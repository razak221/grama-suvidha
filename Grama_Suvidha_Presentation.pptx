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9144000" cy="2560320"/>
          </a:xfrm>
          <a:prstGeom prst="rect">
            <a:avLst/>
          </a:prstGeom>
          <a:solidFill>
            <a:srgbClr val="0F6D6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71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Grama-Suvidha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097280" y="8046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ಜಾನುವಾರು ಆರೋಗ್ಯ ಅಲರ್ಟ್  |  Rural Infrastructure &amp; Project Tracking Portal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1234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Rural Infrastructure Management using AI &amp; Android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1664208"/>
            <a:ext cx="8412480" cy="18288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1737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MindMatrix Internship  ·  Android App Development using Generative AI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8346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02920" y="2907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Presented By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3154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Razak Ahmed Khan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28346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337560" y="2907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USN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337560" y="3154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28346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72200" y="2907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College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72200" y="3154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HKBK College of Engineering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39776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0201C"/>
          </a:solidFill>
          <a:ln w="1270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Review Alert – 3 days away!  ·  Kolar Review · Gram Panchayat Grounds · January 12, 2025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Content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56032" y="1005840"/>
            <a:ext cx="347472" cy="457200"/>
          </a:xfrm>
          <a:prstGeom prst="roundRect">
            <a:avLst>
              <a:gd name="adj" fmla="val 1315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56032" y="10058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9692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solution for infrastructure management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90872" y="1005840"/>
            <a:ext cx="347472" cy="457200"/>
          </a:xfrm>
          <a:prstGeom prst="roundRect">
            <a:avLst>
              <a:gd name="adj" fmla="val 1315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90872" y="10058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9692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1234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rural infrastructure care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164592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56032" y="1737360"/>
            <a:ext cx="347472" cy="457200"/>
          </a:xfrm>
          <a:prstGeom prst="roundRect">
            <a:avLst>
              <a:gd name="adj" fmla="val 1315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56032" y="1737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17007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19659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Grama-Suvidha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164592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690872" y="1737360"/>
            <a:ext cx="347472" cy="457200"/>
          </a:xfrm>
          <a:prstGeom prst="roundRect">
            <a:avLst>
              <a:gd name="adj" fmla="val 1315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90872" y="1737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17007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19659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assistant for citizens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237744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56032" y="2468880"/>
            <a:ext cx="347472" cy="457200"/>
          </a:xfrm>
          <a:prstGeom prst="roundRect">
            <a:avLst>
              <a:gd name="adj" fmla="val 1315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56032" y="24688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24323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26974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capabilities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237744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690872" y="2468880"/>
            <a:ext cx="347472" cy="457200"/>
          </a:xfrm>
          <a:prstGeom prst="roundRect">
            <a:avLst>
              <a:gd name="adj" fmla="val 1315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90872" y="24688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24323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26974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progress &amp; screenshots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310896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56032" y="3200400"/>
            <a:ext cx="347472" cy="457200"/>
          </a:xfrm>
          <a:prstGeom prst="roundRect">
            <a:avLst>
              <a:gd name="adj" fmla="val 1315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56032" y="32004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" y="31638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" y="34290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· Compose · Room · WorkManager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310896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690872" y="3200400"/>
            <a:ext cx="347472" cy="457200"/>
          </a:xfrm>
          <a:prstGeom prst="roundRect">
            <a:avLst>
              <a:gd name="adj" fmla="val 1315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690872" y="32004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20640" y="31638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20640" y="34290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2880" y="384048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256032" y="3931920"/>
            <a:ext cx="347472" cy="457200"/>
          </a:xfrm>
          <a:prstGeom prst="roundRect">
            <a:avLst>
              <a:gd name="adj" fmla="val 1315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56032" y="39319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5800" y="38953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5800" y="41605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user journey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17720" y="384048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690872" y="3931920"/>
            <a:ext cx="347472" cy="457200"/>
          </a:xfrm>
          <a:prstGeom prst="roundRect">
            <a:avLst>
              <a:gd name="adj" fmla="val 1315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690872" y="39319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120640" y="38953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20640" y="41605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outcomes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82880" y="457200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256032" y="4663440"/>
            <a:ext cx="347472" cy="457200"/>
          </a:xfrm>
          <a:prstGeom prst="roundRect">
            <a:avLst>
              <a:gd name="adj" fmla="val 1315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256032" y="4663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85800" y="46268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85800" y="48920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enhancements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17720" y="457200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4690872" y="4663440"/>
            <a:ext cx="347472" cy="457200"/>
          </a:xfrm>
          <a:prstGeom prst="roundRect">
            <a:avLst>
              <a:gd name="adj" fmla="val 1315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4690872" y="4663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120640" y="46268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120640" y="48920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takeaways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Introduction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0584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14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Grama-Suvidha?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1508760"/>
            <a:ext cx="6492240" cy="731520"/>
          </a:xfrm>
          <a:prstGeom prst="roundRect">
            <a:avLst>
              <a:gd name="adj" fmla="val 100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5544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1554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Android-based Solution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8288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mobile application for rural infrastructure management, running on Android phones without continuous internet.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2350008"/>
            <a:ext cx="6492240" cy="731520"/>
          </a:xfrm>
          <a:prstGeom prst="roundRect">
            <a:avLst>
              <a:gd name="adj" fmla="val 100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239572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51560" y="2395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Status Tracking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2670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digital status cards for each project, recording milestones, treatments, and medical history in one place.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3191256"/>
            <a:ext cx="6492240" cy="731520"/>
          </a:xfrm>
          <a:prstGeom prst="roundRect">
            <a:avLst>
              <a:gd name="adj" fmla="val 100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7200" y="323697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51560" y="32369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 System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35112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milestone reminders and review notifications ensure citizens never miss critical status events.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" y="4032504"/>
            <a:ext cx="6492240" cy="731520"/>
          </a:xfrm>
          <a:prstGeom prst="roundRect">
            <a:avLst>
              <a:gd name="adj" fmla="val 100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7200" y="40782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51560" y="40782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Low-Connectivity Design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1560" y="435254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 using Room Database enables full functionality even in areas with no internet access.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facing rural infrastructure citizens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251960" cy="1691640"/>
          </a:xfrm>
          <a:prstGeom prst="roundRect">
            <a:avLst>
              <a:gd name="adj" fmla="val 4324"/>
            </a:avLst>
          </a:prstGeom>
          <a:solidFill>
            <a:srgbClr val="00201C"/>
          </a:solidFill>
          <a:ln w="1270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43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A72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124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Milestone Reviews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are unaware of nearby government milestone reviews, causing preventable issue outbreaks.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51960" cy="1691640"/>
          </a:xfrm>
          <a:prstGeom prst="roundRect">
            <a:avLst>
              <a:gd name="adj" fmla="val 4324"/>
            </a:avLst>
          </a:prstGeom>
          <a:solidFill>
            <a:srgbClr val="00201C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92040" y="1143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535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920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1124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Records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records are paper-based or non-existent, making tracking milestones and treatments impossible.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4251960" cy="1691640"/>
          </a:xfrm>
          <a:prstGeom prst="roundRect">
            <a:avLst>
              <a:gd name="adj" fmla="val 4324"/>
            </a:avLst>
          </a:prstGeom>
          <a:solidFill>
            <a:srgbClr val="00201C"/>
          </a:solidFill>
          <a:ln w="1270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3017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A72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999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outbreaks lead to infrastructure deaths and reduced productivity, severely impacting citizen income.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251960" cy="1691640"/>
          </a:xfrm>
          <a:prstGeom prst="roundRect">
            <a:avLst>
              <a:gd name="adj" fmla="val 4324"/>
            </a:avLst>
          </a:prstGeom>
          <a:solidFill>
            <a:srgbClr val="00201C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892040" y="3017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535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920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2999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Digital Infrastructure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611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areas lack digital tools built for their context — low literacy, low connectivity, local language needs.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6492240" cy="685800"/>
          </a:xfrm>
          <a:prstGeom prst="roundRect">
            <a:avLst>
              <a:gd name="adj" fmla="val 1066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320040" y="960120"/>
            <a:ext cx="54864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51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10058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Alerts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2801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timely push notifications to citizens about upcoming milestone schedules and nearby reviews.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1755648"/>
            <a:ext cx="6492240" cy="685800"/>
          </a:xfrm>
          <a:prstGeom prst="roundRect">
            <a:avLst>
              <a:gd name="adj" fmla="val 1066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20040" y="1755648"/>
            <a:ext cx="54864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1847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60120" y="18013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Status Records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60120" y="20756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maintain a digital status card per project — tag ID, breed, milestone history, assigned doctor.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2551176"/>
            <a:ext cx="6492240" cy="685800"/>
          </a:xfrm>
          <a:prstGeom prst="roundRect">
            <a:avLst>
              <a:gd name="adj" fmla="val 1066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20040" y="2551176"/>
            <a:ext cx="54864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57200" y="2642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🦠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60120" y="25968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Issue Reporting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0120" y="287121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citizens and officials to report and track issue incidents to enable faster response.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3346704"/>
            <a:ext cx="6492240" cy="685800"/>
          </a:xfrm>
          <a:prstGeom prst="roundRect">
            <a:avLst>
              <a:gd name="adj" fmla="val 1066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320040" y="3346704"/>
            <a:ext cx="54864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34381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📵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60120" y="339242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Functionality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0120" y="366674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core features work without internet using Room Database local storage.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0040" y="4142232"/>
            <a:ext cx="6492240" cy="685800"/>
          </a:xfrm>
          <a:prstGeom prst="roundRect">
            <a:avLst>
              <a:gd name="adj" fmla="val 1066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320040" y="4142232"/>
            <a:ext cx="54864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57200" y="42336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60120" y="41879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Rural-Friendly UI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0120" y="446227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Icon-driven, low-literacy-friendly interface with Kannada language support.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assistant for citizens — combining 4 core systems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0" y="9601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F6D62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0" y="960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Grama-Suvidha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2194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record for every project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210312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46120" y="2194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862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6200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milestone reminders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11480" y="3611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🏕️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Notifications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review alerts &amp; scheduling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35204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246120" y="3611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862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Database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8620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infrastructure ledger per village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10312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126480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126480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89520" y="210312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589520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589520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329184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126480" y="3383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126480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Soon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89520" y="329184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589520" y="3383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589520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Stats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Key Features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capabilities powering Grama-Suvidha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00201C"/>
          </a:solidFill>
          <a:ln w="1270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11480" y="112471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11480" y="1124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116128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Ledger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infrastructure per village. Filter by Cow, Buffalo, Goat. Search by owner name or tag ID.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00201C"/>
          </a:solidFill>
          <a:ln w="1270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37560" y="112471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37560" y="1124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041648" y="116128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Project Status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8470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status record per project: Tag ID, breed, age, weight, milestone timeline, assigned doctor.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00201C"/>
          </a:solidFill>
          <a:ln w="1270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63640" y="112471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FFA72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63640" y="1124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67728" y="116128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Alerts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8470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push notifications for upcoming milestone reviews. 3-day advance reminders via WorkManager.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98648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00201C"/>
          </a:solidFill>
          <a:ln w="1270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11480" y="306324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1148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15568" y="3099816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System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78561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project registration form with icon-driven UI. Low literacy friendly, supports Kannada labels.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898648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00201C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337560" y="306324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EF535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33756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🦠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041648" y="3099816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Reporting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378561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track issue outbreaks. Enables faster officialerinary response and data-driven interventions.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2898648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00201C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263640" y="306324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42A5F5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6364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67728" y="3099816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Status Tips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378561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integration for AI-powered status recommendations based on breed, season, and location.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UI Screens — App Progress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Jetpack Compose · Designed for rural usability · Icon-driven (low literacy friendly)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28600" y="105156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🐄  Project List Screen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" y="1664208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Projects dashboard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" y="1965960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901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Cow / Buffalo / Goat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" y="2267712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203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badges: Vaccinated / Due Soon / Overdue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" y="2569464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2505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 or owner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05156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00400" y="105156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29184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Project Status Screen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64992" y="1664208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20440" y="1600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profile: Tag ID, breed, age, weight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64992" y="1965960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520440" y="1901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&amp; village info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64992" y="2267712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520440" y="2203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Vaccinated status badge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64992" y="2569464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520440" y="2505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detail 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72200" y="105156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172200" y="105156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26364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 Update Timeline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36792" y="1664208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92240" y="1600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FMD – Jun 2024 ✅ Vaccinated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36792" y="1965960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92240" y="1901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PPR – Sep 2024 ✅ Vaccinated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36792" y="2267712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92240" y="2203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– Jan 2025 🔵 Scheduled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36792" y="2569464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92240" y="2505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Review &amp; Doctor info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306324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28600" y="306324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2004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 Officialerinary Doctors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93192" y="3675888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4864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Suresh Kumar R. – 18 yrs exp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3192" y="3977640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48640" y="3913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Kavitha Nagaraj – 12 yrs exp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3192" y="4279392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48640" y="42153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Specialty, hospital, timing shown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3192" y="4581144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48640" y="45171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KVS registration number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0" y="306324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3200400" y="306324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329184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🏕️  Milestone Reviews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364992" y="3675888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52044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Tumkur Review – Jan 8, 2025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364992" y="3977640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520440" y="3913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Kolar Review – Jan 12, 2025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364992" y="4279392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520440" y="42153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Projects · 3 Overdue · 5 Due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64992" y="4581144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3520440" y="45171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badge &amp; landmark info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989320" y="310896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00201C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126480" y="3200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Built With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144768" y="3639312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6291072" y="3593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UI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144768" y="3895344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291072" y="38496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Language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144768" y="4151376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6291072" y="41056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Local Database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144768" y="4407408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6291072" y="43616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Alerts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144768" y="4663440"/>
            <a:ext cx="91440" cy="91440"/>
          </a:xfrm>
          <a:prstGeom prst="oval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6291072" y="46177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 Design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Technology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00201C"/>
          </a:solidFill>
          <a:ln w="1270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411480"/>
          </a:xfrm>
          <a:prstGeom prst="roundRect">
            <a:avLst>
              <a:gd name="adj" fmla="val 1777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84048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463040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5488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47088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" y="1856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47088" y="18562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declarative UI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2249424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5488" y="22494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47088" y="22494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18688" y="960120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00201C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18688" y="960120"/>
            <a:ext cx="2788920" cy="411480"/>
          </a:xfrm>
          <a:prstGeom prst="roundRect">
            <a:avLst>
              <a:gd name="adj" fmla="val 17778"/>
            </a:avLst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28416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Storage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28416" y="1463040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19856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Database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91456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28416" y="1856232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419856" y="1856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Pattern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91456" y="18562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28416" y="2249424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19856" y="22494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91456" y="22494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updates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63056" y="960120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00201C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163056" y="960120"/>
            <a:ext cx="2788920" cy="411480"/>
          </a:xfrm>
          <a:prstGeom prst="roundRect">
            <a:avLst>
              <a:gd name="adj" fmla="val 17778"/>
            </a:avLst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72784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72784" y="1463040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364224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35824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alert jobs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72784" y="1856232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364224" y="1856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AlarmManager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35824" y="18562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triggers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72784" y="2249424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364224" y="22494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Coroutines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735824" y="22494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operations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2971800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00201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274320" y="2971800"/>
            <a:ext cx="2788920" cy="411480"/>
          </a:xfrm>
          <a:prstGeom prst="roundRect">
            <a:avLst>
              <a:gd name="adj" fmla="val 1777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84048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Optional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84048" y="3474720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75488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847088" y="34747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status tips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84048" y="3867912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75488" y="3867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847088" y="386791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advice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84048" y="4261104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75488" y="4261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Client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847088" y="42611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18688" y="2971800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00201C"/>
          </a:solidFill>
          <a:ln w="12700">
            <a:solidFill>
              <a:srgbClr val="4E34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3218688" y="2971800"/>
            <a:ext cx="2788920" cy="411480"/>
          </a:xfrm>
          <a:prstGeom prst="roundRect">
            <a:avLst>
              <a:gd name="adj" fmla="val 17778"/>
            </a:avLst>
          </a:prstGeom>
          <a:solidFill>
            <a:srgbClr val="4E342E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328416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IDE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328416" y="3474720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419856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791456" y="34747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IDE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328416" y="3867912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3419856" y="3867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791456" y="386791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328416" y="4261104"/>
            <a:ext cx="2569464" cy="320040"/>
          </a:xfrm>
          <a:prstGeom prst="roundRect">
            <a:avLst>
              <a:gd name="adj" fmla="val 2285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419856" y="4261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791456" y="42611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 — data flow from citizen to notification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29000" y="96012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F6D62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538728" y="97840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(Citizen)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38728" y="132588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Device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645920"/>
            <a:ext cx="0" cy="155448"/>
          </a:xfrm>
          <a:prstGeom prst="line">
            <a:avLst/>
          </a:prstGeom>
          <a:noFill/>
          <a:ln w="25400">
            <a:solidFill>
              <a:srgbClr val="66BB6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rot="10800000">
            <a:off x="4453128" y="1755648"/>
            <a:ext cx="237744" cy="182880"/>
          </a:xfrm>
          <a:prstGeom prst="triangle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29000" y="19202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0F6D62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38728" y="193852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38728" y="228600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2606040"/>
            <a:ext cx="0" cy="155448"/>
          </a:xfrm>
          <a:prstGeom prst="line">
            <a:avLst/>
          </a:prstGeom>
          <a:noFill/>
          <a:ln w="25400">
            <a:solidFill>
              <a:srgbClr val="66BB6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10800000">
            <a:off x="4453128" y="2715768"/>
            <a:ext cx="237744" cy="182880"/>
          </a:xfrm>
          <a:prstGeom prst="triangle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429000" y="288036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565C0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538728" y="289864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Room 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38728" y="324612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Storage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3566160"/>
            <a:ext cx="0" cy="155448"/>
          </a:xfrm>
          <a:prstGeom prst="line">
            <a:avLst/>
          </a:prstGeom>
          <a:noFill/>
          <a:ln w="25400">
            <a:solidFill>
              <a:srgbClr val="66BB6A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rot="10800000">
            <a:off x="4453128" y="3675888"/>
            <a:ext cx="237744" cy="182880"/>
          </a:xfrm>
          <a:prstGeom prst="triangle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429000" y="38404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6A1B9A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538728" y="385876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WorkManager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38728" y="420624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Alert Jobs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4526280"/>
            <a:ext cx="0" cy="155448"/>
          </a:xfrm>
          <a:prstGeom prst="line">
            <a:avLst/>
          </a:prstGeom>
          <a:noFill/>
          <a:ln w="25400">
            <a:solidFill>
              <a:srgbClr val="66BB6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10800000">
            <a:off x="4453128" y="4636008"/>
            <a:ext cx="237744" cy="182880"/>
          </a:xfrm>
          <a:prstGeom prst="triangle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429000" y="4544568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FA726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538728" y="456285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38728" y="491032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Citizen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96012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92608" y="1005840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" y="125272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registers projects and views status data through the UI.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82880" y="192024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92608" y="1965960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" y="221284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screens render data reactively from Room via ViewModel.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" y="28803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2608" y="2926080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92608" y="317296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DB stores all project records, status cards, and review data locally.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2880" y="384048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92608" y="3886200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2608" y="413308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schedules background jobs to check due dates and fire alerts.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989320" y="192024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099048" y="1965960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99048" y="221284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AI for generating personalized status tips.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89320" y="28803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099048" y="2926080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First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99048" y="317296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persists locally — no internet required for core features.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989320" y="384048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099048" y="3886200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Engine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99048" y="413308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workers evaluate overdue updates and push notifications.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Application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user journey from registration to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84048" y="1097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84048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069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Register Project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990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adds project with name, species, breed, age, tag ID, weight, and owner details.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2103120"/>
            <a:ext cx="0" cy="182880"/>
          </a:xfrm>
          <a:prstGeom prst="line">
            <a:avLst/>
          </a:prstGeom>
          <a:noFill/>
          <a:ln w="19050">
            <a:solidFill>
              <a:srgbClr val="66BB6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54880" y="96012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864608" y="1097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64608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1069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Data Stored Locally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3990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persisted in Room Database. Works fully offline with no internet required.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84048" y="2423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8404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Project Status Created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7249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status card generated automatically with initial status and empty update timeline.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3429000"/>
            <a:ext cx="0" cy="182880"/>
          </a:xfrm>
          <a:prstGeom prst="line">
            <a:avLst/>
          </a:prstGeom>
          <a:noFill/>
          <a:ln w="19050">
            <a:solidFill>
              <a:srgbClr val="66BB6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864608" y="2423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6460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Alerts Scheduled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27249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schedules periodic background jobs to check milestone due dates.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61188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84048" y="3749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84048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05840" y="3721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 Triggered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40507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fired when milestone is due or a review is 3 days away.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1188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864608" y="3749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864608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86400" y="3721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Citizen Takes Action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0" y="40507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visits official or review, updates milestone status. Record marked complete.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Current Progress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 status — Internship milestone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24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UI Screens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930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list, Status card, Updates, Doctors, Reviews — all complete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0" y="1152144"/>
            <a:ext cx="2651760" cy="237744"/>
          </a:xfrm>
          <a:prstGeom prst="roundRect">
            <a:avLst>
              <a:gd name="adj" fmla="val 19231"/>
            </a:avLst>
          </a:prstGeom>
          <a:solidFill>
            <a:srgbClr val="00201C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0" y="1152144"/>
            <a:ext cx="2519172" cy="237744"/>
          </a:xfrm>
          <a:prstGeom prst="roundRect">
            <a:avLst>
              <a:gd name="adj" fmla="val 19231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41080" y="10789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55064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11480" y="1691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Registration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95681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form functional with validation and local save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0" y="1819656"/>
            <a:ext cx="2651760" cy="237744"/>
          </a:xfrm>
          <a:prstGeom prst="roundRect">
            <a:avLst>
              <a:gd name="adj" fmla="val 19231"/>
            </a:avLst>
          </a:prstGeom>
          <a:solidFill>
            <a:srgbClr val="00201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1819656"/>
            <a:ext cx="2651760" cy="237744"/>
          </a:xfrm>
          <a:prstGeom prst="roundRect">
            <a:avLst>
              <a:gd name="adj" fmla="val 19231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41080" y="174650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322576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11480" y="2359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2432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status card with update timeline functional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0" y="2487168"/>
            <a:ext cx="2651760" cy="237744"/>
          </a:xfrm>
          <a:prstGeom prst="roundRect">
            <a:avLst>
              <a:gd name="adj" fmla="val 19231"/>
            </a:avLst>
          </a:prstGeom>
          <a:solidFill>
            <a:srgbClr val="00201C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943600" y="2487168"/>
            <a:ext cx="2386584" cy="237744"/>
          </a:xfrm>
          <a:prstGeom prst="roundRect">
            <a:avLst>
              <a:gd name="adj" fmla="val 19231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4108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90088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11480" y="3026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Database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29184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DAOs implemented, entities mapped, queries working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43600" y="3154680"/>
            <a:ext cx="2651760" cy="237744"/>
          </a:xfrm>
          <a:prstGeom prst="roundRect">
            <a:avLst>
              <a:gd name="adj" fmla="val 19231"/>
            </a:avLst>
          </a:prstGeom>
          <a:solidFill>
            <a:srgbClr val="00201C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943600" y="3154680"/>
            <a:ext cx="2651760" cy="237744"/>
          </a:xfrm>
          <a:prstGeom prst="roundRect">
            <a:avLst>
              <a:gd name="adj" fmla="val 19231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641080" y="30815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657600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11480" y="3694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Alert Logic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395935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workers scheduling milestone reminders implemented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43600" y="3822192"/>
            <a:ext cx="2651760" cy="237744"/>
          </a:xfrm>
          <a:prstGeom prst="roundRect">
            <a:avLst>
              <a:gd name="adj" fmla="val 19231"/>
            </a:avLst>
          </a:prstGeom>
          <a:solidFill>
            <a:srgbClr val="00201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943600" y="3822192"/>
            <a:ext cx="2121408" cy="237744"/>
          </a:xfrm>
          <a:prstGeom prst="roundRect">
            <a:avLst>
              <a:gd name="adj" fmla="val 19231"/>
            </a:avLst>
          </a:prstGeom>
          <a:solidFill>
            <a:srgbClr val="FFA72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641080" y="3749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325112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11480" y="4361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Multi-Project Tracking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462686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 projects tracked with filter by type and status badges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43600" y="4489704"/>
            <a:ext cx="2651760" cy="237744"/>
          </a:xfrm>
          <a:prstGeom prst="roundRect">
            <a:avLst>
              <a:gd name="adj" fmla="val 19231"/>
            </a:avLst>
          </a:prstGeom>
          <a:solidFill>
            <a:srgbClr val="00201C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943600" y="4489704"/>
            <a:ext cx="2519172" cy="237744"/>
          </a:xfrm>
          <a:prstGeom prst="roundRect">
            <a:avLst>
              <a:gd name="adj" fmla="val 19231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641080" y="44165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Impact &amp; Benefits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outcomes for rural farming communities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11480" y="10972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114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8992" y="1124712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Issue Risk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Issue Outbreaks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milestone reminders reduce preventable infrastructure issue and mortality rates significantly.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83280" y="10972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832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50792" y="1124712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Income Stability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Citizen Income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Statusy infrastructure means higher productivity, milk yield, and stable income for farming families.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9601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355080" y="10972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550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22592" y="1124712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Digital First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Digitization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citizens to digital status records, building a foundation for broader digital adoption.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08760" y="292608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645920" y="3063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6459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313432" y="3090672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Response Speed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Official Response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4592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reporting and doctor listing enables faster officialerinary intervention when outbreaks occur.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80560" y="292608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00201C"/>
          </a:solidFill>
          <a:ln w="12700">
            <a:solidFill>
              <a:srgbClr val="2E5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617720" y="3063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177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85232" y="3090672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Data-Driven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772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Status Data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1772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longitudinal status database per project — enabling future analytics and policy decisions.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Grama-Suvidha v2.0 and beyond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00201C"/>
          </a:solidFill>
          <a:ln w="1270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463040"/>
            <a:ext cx="2523744" cy="1463040"/>
          </a:xfrm>
          <a:prstGeom prst="roundRect">
            <a:avLst>
              <a:gd name="adj" fmla="val 5000"/>
            </a:avLst>
          </a:prstGeom>
          <a:solidFill>
            <a:srgbClr val="00201C"/>
          </a:solidFill>
          <a:ln w="12700">
            <a:solidFill>
              <a:srgbClr val="388E3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548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24128" y="15727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 Full UI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1214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localization in Kannada for full regional adoption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3200400"/>
            <a:ext cx="2523744" cy="1463040"/>
          </a:xfrm>
          <a:prstGeom prst="roundRect">
            <a:avLst>
              <a:gd name="adj" fmla="val 5000"/>
            </a:avLst>
          </a:prstGeom>
          <a:solidFill>
            <a:srgbClr val="00201C"/>
          </a:solidFill>
          <a:ln w="12700">
            <a:solidFill>
              <a:srgbClr val="388E3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5488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24128" y="33101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38587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Firebase/Supabase cloud backup for multi-device access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96012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00201C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46120" y="9601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3756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55848" y="1463040"/>
            <a:ext cx="2523744" cy="1463040"/>
          </a:xfrm>
          <a:prstGeom prst="roundRect">
            <a:avLst>
              <a:gd name="adj" fmla="val 5000"/>
            </a:avLst>
          </a:prstGeom>
          <a:solidFill>
            <a:srgbClr val="00201C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4728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95928" y="15727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Official Tracking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47288" y="21214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 sharing with nearest available official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55848" y="3200400"/>
            <a:ext cx="2523744" cy="1463040"/>
          </a:xfrm>
          <a:prstGeom prst="roundRect">
            <a:avLst>
              <a:gd name="adj" fmla="val 5000"/>
            </a:avLst>
          </a:prstGeom>
          <a:solidFill>
            <a:srgbClr val="00201C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47288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995928" y="33101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Review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47288" y="38587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integration with government milestone programs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96012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00201C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217920" y="9601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0936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27648" y="1463040"/>
            <a:ext cx="2523744" cy="1463040"/>
          </a:xfrm>
          <a:prstGeom prst="roundRect">
            <a:avLst>
              <a:gd name="adj" fmla="val 5000"/>
            </a:avLst>
          </a:prstGeom>
          <a:solidFill>
            <a:srgbClr val="00201C"/>
          </a:solidFill>
          <a:ln w="12700">
            <a:solidFill>
              <a:srgbClr val="6A1B9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1908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67728" y="15727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Interface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19088" y="21214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data entry in Kannada for non-literate citizens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27648" y="3200400"/>
            <a:ext cx="2523744" cy="1463040"/>
          </a:xfrm>
          <a:prstGeom prst="roundRect">
            <a:avLst>
              <a:gd name="adj" fmla="val 5000"/>
            </a:avLst>
          </a:prstGeom>
          <a:solidFill>
            <a:srgbClr val="00201C"/>
          </a:solidFill>
          <a:ln w="12700">
            <a:solidFill>
              <a:srgbClr val="6A1B9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19088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67728" y="33101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19088" y="38587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Village-level community status analytics for policymakers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6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841248"/>
          </a:xfrm>
          <a:prstGeom prst="roundRect">
            <a:avLst>
              <a:gd name="adj" fmla="val 8696"/>
            </a:avLst>
          </a:prstGeom>
          <a:solidFill>
            <a:srgbClr val="00201C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" cy="841248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9848" y="10789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Rural Solution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38988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Grama-Suvidha directly addresses a real pain point for millions of citizens in rural India with no existing digital alternative.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8503920" cy="841248"/>
          </a:xfrm>
          <a:prstGeom prst="roundRect">
            <a:avLst>
              <a:gd name="adj" fmla="val 8696"/>
            </a:avLst>
          </a:prstGeom>
          <a:solidFill>
            <a:srgbClr val="00201C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0040" y="1993392"/>
            <a:ext cx="54864" cy="841248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69848" y="206654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 AI + IoT Thinking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9848" y="2377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modern Android development (Kotlin, Compose) with Generative AI (Gemini API) and local-first data architecture.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80944"/>
            <a:ext cx="8503920" cy="841248"/>
          </a:xfrm>
          <a:prstGeom prst="roundRect">
            <a:avLst>
              <a:gd name="adj" fmla="val 8696"/>
            </a:avLst>
          </a:prstGeom>
          <a:solidFill>
            <a:srgbClr val="00201C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2980944"/>
            <a:ext cx="54864" cy="841248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5488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69848" y="30540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Deployable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9848" y="336499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Room + WorkManager — production-ready architecture that can scale from village to district to state level.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68496"/>
            <a:ext cx="8503920" cy="841248"/>
          </a:xfrm>
          <a:prstGeom prst="roundRect">
            <a:avLst>
              <a:gd name="adj" fmla="val 8696"/>
            </a:avLst>
          </a:prstGeom>
          <a:solidFill>
            <a:srgbClr val="00201C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20040" y="3968496"/>
            <a:ext cx="54864" cy="841248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5488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69848" y="4041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Real-World Impact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" y="435254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infrastructure deaths, increases citizen income, and introduces rural digitization to underserved communities.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931920" y="640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🌾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Grama-Suvidha: Rural Infrastructure &amp; Project Tracking Portal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301752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00201C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286000" y="3017520"/>
            <a:ext cx="54864" cy="1463040"/>
          </a:xfrm>
          <a:prstGeom prst="rect">
            <a:avLst/>
          </a:prstGeom>
          <a:solidFill>
            <a:srgbClr val="0F6D6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514600" y="309067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Razak Ahmed Khan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341071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USN: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373075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405079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MindMatrix Internship — Android App Dev using Gen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Grama-Vaxi: Livestock Health Alert &amp; Digital Health Card System</dc:title>
  <dc:subject>PptxGenJS Presentation</dc:subject>
  <dc:creator>Syed Mohammad Inamulla Hussaini</dc:creator>
  <cp:lastModifiedBy>Syed Mohammad Inamulla Hussaini</cp:lastModifiedBy>
  <cp:revision>1</cp:revision>
  <dcterms:created xsi:type="dcterms:W3CDTF">2026-05-04T08:15:55Z</dcterms:created>
  <dcterms:modified xsi:type="dcterms:W3CDTF">2026-05-04T08:15:55Z</dcterms:modified>
</cp:coreProperties>
</file>